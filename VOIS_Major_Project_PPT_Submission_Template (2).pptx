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2"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manjilagamacharyya-glitch/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630" y="4289773"/>
            <a:ext cx="9047979" cy="861497"/>
          </a:xfrm>
        </p:spPr>
        <p:txBody>
          <a:bodyPr vert="horz" lIns="91440" tIns="45720" rIns="91440" bIns="45720" rtlCol="0" anchor="t">
            <a:normAutofit/>
          </a:bodyPr>
          <a:lstStyle/>
          <a:p>
            <a:pPr algn="r"/>
            <a:r>
              <a:rPr lang="en-US" b="0" dirty="0">
                <a:solidFill>
                  <a:schemeClr val="tx1"/>
                </a:solidFill>
              </a:rPr>
              <a:t>[Student Name :- </a:t>
            </a:r>
            <a:r>
              <a:rPr lang="en-US" b="0" dirty="0" err="1">
                <a:solidFill>
                  <a:schemeClr val="tx1"/>
                </a:solidFill>
              </a:rPr>
              <a:t>Manjil</a:t>
            </a:r>
            <a:r>
              <a:rPr lang="en-US" b="0" dirty="0">
                <a:solidFill>
                  <a:schemeClr val="tx1"/>
                </a:solidFill>
              </a:rPr>
              <a:t> </a:t>
            </a:r>
            <a:r>
              <a:rPr lang="en-US" b="0" dirty="0" err="1">
                <a:solidFill>
                  <a:schemeClr val="tx1"/>
                </a:solidFill>
              </a:rPr>
              <a:t>Agamacharyya</a:t>
            </a:r>
            <a:r>
              <a:rPr lang="en-US" b="0" dirty="0">
                <a:solidFill>
                  <a:schemeClr val="tx1"/>
                </a:solidFill>
              </a:rPr>
              <a:t>  </a:t>
            </a:r>
            <a:endParaRPr lang="en-IN" b="0" dirty="0">
              <a:solidFill>
                <a:schemeClr val="tx1"/>
              </a:solidFill>
            </a:endParaRPr>
          </a:p>
          <a:p>
            <a:pPr algn="r"/>
            <a:r>
              <a:rPr lang="en-US" b="0" dirty="0">
                <a:solidFill>
                  <a:schemeClr val="tx1"/>
                </a:solidFill>
              </a:rPr>
              <a:t>College Name- Jorhat Institute of Science &amp;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05834" y="2886000"/>
            <a:ext cx="9794106" cy="743448"/>
          </a:xfrm>
        </p:spPr>
        <p:txBody>
          <a:bodyPr>
            <a:normAutofit fontScale="90000"/>
          </a:bodyPr>
          <a:lstStyle/>
          <a:p>
            <a:r>
              <a:rPr lang="en-GB" sz="3200" dirty="0"/>
              <a:t>Seasonal Agriculture Performance Analysis Major Project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615006" y="5413231"/>
            <a:ext cx="5771198" cy="646331"/>
          </a:xfrm>
          <a:prstGeom prst="rect">
            <a:avLst/>
          </a:prstGeom>
          <a:noFill/>
        </p:spPr>
        <p:txBody>
          <a:bodyPr wrap="square" rtlCol="0">
            <a:spAutoFit/>
          </a:bodyPr>
          <a:lstStyle/>
          <a:p>
            <a:r>
              <a:rPr lang="en-US" b="1" dirty="0"/>
              <a:t>AICTE STU ID :  </a:t>
            </a:r>
            <a:r>
              <a:rPr lang="en-IN" dirty="0"/>
              <a:t>STU6a05a39f22c1a1778754463 </a:t>
            </a:r>
            <a:br>
              <a:rPr lang="en-IN" dirty="0"/>
            </a:b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99771"/>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E8C3DF8-DB27-A9E4-2935-11534FB00CCB}"/>
              </a:ext>
            </a:extLst>
          </p:cNvPr>
          <p:cNvSpPr txBox="1"/>
          <p:nvPr/>
        </p:nvSpPr>
        <p:spPr>
          <a:xfrm>
            <a:off x="337978" y="1222157"/>
            <a:ext cx="11516043" cy="5355312"/>
          </a:xfrm>
          <a:prstGeom prst="rect">
            <a:avLst/>
          </a:prstGeom>
          <a:noFill/>
        </p:spPr>
        <p:txBody>
          <a:bodyPr wrap="square" rtlCol="0">
            <a:spAutoFit/>
          </a:bodyPr>
          <a:lstStyle/>
          <a:p>
            <a:r>
              <a:rPr lang="en-IN" dirty="0"/>
              <a:t>This project aims to analyse agricultural data to understand how performance varies across different seasons. Agricultural activities are heavily influenced by seasonal changes in environmental conditions, farming practices, and resource availability.</a:t>
            </a:r>
          </a:p>
          <a:p>
            <a:endParaRPr lang="en-IN" dirty="0"/>
          </a:p>
          <a:p>
            <a:r>
              <a:rPr lang="en-IN" b="1" dirty="0"/>
              <a:t>Importance:</a:t>
            </a:r>
            <a:r>
              <a:rPr lang="en-IN" dirty="0"/>
              <a:t> Understanding these seasonal patterns through data analytics is crucial for stakeholders to:</a:t>
            </a:r>
          </a:p>
          <a:p>
            <a:pPr marL="285750" lvl="0" indent="-285750">
              <a:buFont typeface="Arial" panose="020B0604020202020204" pitchFamily="34" charset="0"/>
              <a:buChar char="•"/>
            </a:pPr>
            <a:r>
              <a:rPr lang="en-IN" dirty="0"/>
              <a:t>Analyse variations in agricultural performance.</a:t>
            </a:r>
          </a:p>
          <a:p>
            <a:pPr marL="285750" lvl="0" indent="-285750">
              <a:buFont typeface="Arial" panose="020B0604020202020204" pitchFamily="34" charset="0"/>
              <a:buChar char="•"/>
            </a:pPr>
            <a:r>
              <a:rPr lang="en-IN" dirty="0"/>
              <a:t>Identify important seasonal trends.</a:t>
            </a:r>
          </a:p>
          <a:p>
            <a:pPr marL="285750" lvl="0" indent="-285750">
              <a:buFont typeface="Arial" panose="020B0604020202020204" pitchFamily="34" charset="0"/>
              <a:buChar char="•"/>
            </a:pPr>
            <a:r>
              <a:rPr lang="en-IN" dirty="0"/>
              <a:t>Compare performance across different periods.</a:t>
            </a:r>
          </a:p>
          <a:p>
            <a:pPr marL="285750" lvl="0" indent="-285750">
              <a:buFont typeface="Arial" panose="020B0604020202020204" pitchFamily="34" charset="0"/>
              <a:buChar char="•"/>
            </a:pPr>
            <a:r>
              <a:rPr lang="en-IN" dirty="0"/>
              <a:t>Understand changing environmental conditions and resource usage.</a:t>
            </a:r>
          </a:p>
          <a:p>
            <a:pPr marL="285750" lvl="0" indent="-285750">
              <a:buFont typeface="Arial" panose="020B0604020202020204" pitchFamily="34" charset="0"/>
              <a:buChar char="•"/>
            </a:pPr>
            <a:r>
              <a:rPr lang="en-IN" dirty="0"/>
              <a:t>Support evidence-based agricultural planning and identify areas needing further investigation.</a:t>
            </a:r>
          </a:p>
          <a:p>
            <a:pPr marL="285750" lvl="0" indent="-285750">
              <a:buFont typeface="Arial" panose="020B0604020202020204" pitchFamily="34" charset="0"/>
              <a:buChar char="•"/>
            </a:pPr>
            <a:endParaRPr lang="en-IN" dirty="0"/>
          </a:p>
          <a:p>
            <a:r>
              <a:rPr lang="en-IN" b="1" dirty="0"/>
              <a:t>Objectives:</a:t>
            </a:r>
            <a:r>
              <a:rPr lang="en-IN" dirty="0"/>
              <a:t> The primary objective is to analyse agricultural data from different seasons to identify key patterns and relationships. This involves:</a:t>
            </a:r>
          </a:p>
          <a:p>
            <a:pPr marL="285750" lvl="0" indent="-285750">
              <a:buFont typeface="Arial" panose="020B0604020202020204" pitchFamily="34" charset="0"/>
              <a:buChar char="•"/>
            </a:pPr>
            <a:r>
              <a:rPr lang="en-IN" dirty="0"/>
              <a:t>Exploring, cleaning, and preparing the dataset.</a:t>
            </a:r>
          </a:p>
          <a:p>
            <a:pPr marL="285750" lvl="0" indent="-285750">
              <a:buFont typeface="Arial" panose="020B0604020202020204" pitchFamily="34" charset="0"/>
              <a:buChar char="•"/>
            </a:pPr>
            <a:r>
              <a:rPr lang="en-IN" dirty="0"/>
              <a:t>Examining how agricultural performance changes across seasons.</a:t>
            </a:r>
          </a:p>
          <a:p>
            <a:pPr marL="285750" lvl="0" indent="-285750">
              <a:buFont typeface="Arial" panose="020B0604020202020204" pitchFamily="34" charset="0"/>
              <a:buChar char="•"/>
            </a:pPr>
            <a:r>
              <a:rPr lang="en-IN" dirty="0"/>
              <a:t>Investigating the relationships between seasonal conditions and outcomes.</a:t>
            </a:r>
          </a:p>
          <a:p>
            <a:pPr marL="285750" lvl="0" indent="-285750">
              <a:buFont typeface="Arial" panose="020B0604020202020204" pitchFamily="34" charset="0"/>
              <a:buChar char="•"/>
            </a:pPr>
            <a:r>
              <a:rPr lang="en-IN" dirty="0"/>
              <a:t>Applying statistical and visualization techniques to interpret findings and develop data-driven recommendations.</a:t>
            </a:r>
          </a:p>
          <a:p>
            <a:endParaRPr lang="en-IN" dirty="0">
              <a:latin typeface="Bahnschrift SemiBold" panose="020B0502040204020203"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3600" dirty="0"/>
              <a:t>Farmers</a:t>
            </a:r>
          </a:p>
          <a:p>
            <a:pPr algn="just">
              <a:lnSpc>
                <a:spcPct val="150000"/>
              </a:lnSpc>
            </a:pPr>
            <a:r>
              <a:rPr lang="en-IN" sz="3600" dirty="0"/>
              <a:t>Government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err="1"/>
              <a:t>Matplotlip.pyplot</a:t>
            </a:r>
            <a:endParaRPr lang="en-IN" dirty="0"/>
          </a:p>
          <a:p>
            <a:pPr lvl="1">
              <a:lnSpc>
                <a:spcPct val="150000"/>
              </a:lnSpc>
            </a:pPr>
            <a:r>
              <a:rPr lang="en-IN" dirty="0"/>
              <a:t>Seaborn</a:t>
            </a:r>
          </a:p>
          <a:p>
            <a:pPr lvl="1">
              <a:lnSpc>
                <a:spcPct val="150000"/>
              </a:lnSpc>
            </a:pPr>
            <a:r>
              <a:rPr lang="en-IN" dirty="0" err="1"/>
              <a:t>Numpy</a:t>
            </a:r>
            <a:endParaRPr lang="en-IN" dirty="0"/>
          </a:p>
          <a:p>
            <a:pPr lvl="1">
              <a:lnSpc>
                <a:spcPct val="150000"/>
              </a:lnSpc>
            </a:pPr>
            <a:r>
              <a:rPr lang="en-IN" dirty="0"/>
              <a:t>Pandas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D9979AA-EC22-85B3-F629-05918579AAF6}"/>
              </a:ext>
            </a:extLst>
          </p:cNvPr>
          <p:cNvPicPr>
            <a:picLocks noChangeAspect="1"/>
          </p:cNvPicPr>
          <p:nvPr/>
        </p:nvPicPr>
        <p:blipFill>
          <a:blip r:embed="rId3"/>
          <a:stretch>
            <a:fillRect/>
          </a:stretch>
        </p:blipFill>
        <p:spPr>
          <a:xfrm>
            <a:off x="828136" y="1130060"/>
            <a:ext cx="9100868" cy="55349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5FF05BF-B881-2D78-C14E-1F43FB502322}"/>
              </a:ext>
            </a:extLst>
          </p:cNvPr>
          <p:cNvPicPr>
            <a:picLocks noChangeAspect="1"/>
          </p:cNvPicPr>
          <p:nvPr/>
        </p:nvPicPr>
        <p:blipFill>
          <a:blip r:embed="rId3"/>
          <a:stretch>
            <a:fillRect/>
          </a:stretch>
        </p:blipFill>
        <p:spPr>
          <a:xfrm>
            <a:off x="452849" y="1431694"/>
            <a:ext cx="8880340" cy="439976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A47E8AD-7414-82BD-5CD2-4355BBD60FC8}"/>
              </a:ext>
            </a:extLst>
          </p:cNvPr>
          <p:cNvPicPr>
            <a:picLocks noChangeAspect="1"/>
          </p:cNvPicPr>
          <p:nvPr/>
        </p:nvPicPr>
        <p:blipFill>
          <a:blip r:embed="rId3"/>
          <a:stretch>
            <a:fillRect/>
          </a:stretch>
        </p:blipFill>
        <p:spPr>
          <a:xfrm>
            <a:off x="320982" y="1275372"/>
            <a:ext cx="8995229" cy="44566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E89891B-3229-B1EA-9DCF-76EAD9DB62F5}"/>
              </a:ext>
            </a:extLst>
          </p:cNvPr>
          <p:cNvPicPr>
            <a:picLocks noChangeAspect="1"/>
          </p:cNvPicPr>
          <p:nvPr/>
        </p:nvPicPr>
        <p:blipFill>
          <a:blip r:embed="rId3"/>
          <a:stretch>
            <a:fillRect/>
          </a:stretch>
        </p:blipFill>
        <p:spPr>
          <a:xfrm>
            <a:off x="320982" y="1102060"/>
            <a:ext cx="8986920" cy="448056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960DD30-A6E9-1DA2-9726-F1B431559324}"/>
              </a:ext>
            </a:extLst>
          </p:cNvPr>
          <p:cNvPicPr>
            <a:picLocks noChangeAspect="1"/>
          </p:cNvPicPr>
          <p:nvPr/>
        </p:nvPicPr>
        <p:blipFill>
          <a:blip r:embed="rId3"/>
          <a:stretch>
            <a:fillRect/>
          </a:stretch>
        </p:blipFill>
        <p:spPr>
          <a:xfrm>
            <a:off x="589579" y="1152133"/>
            <a:ext cx="7717551" cy="570586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EA287-F90D-9A7B-E2B7-8895EBFABA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EE79F4-377E-2744-65B1-06EFF06BE0B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F3753D7-36B0-FB96-9D4D-EF8C81440F1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570AFAD-D5EB-D7F0-6931-4A7F7047C6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16AAB5C-7677-EC45-EA4A-37710CDE09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8F0E9FD-98EE-4DCF-4BDE-6B65C72F7A2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2BB25E8A-ADD6-D30E-715D-4CB0FA9A1864}"/>
              </a:ext>
            </a:extLst>
          </p:cNvPr>
          <p:cNvPicPr>
            <a:picLocks noChangeAspect="1"/>
          </p:cNvPicPr>
          <p:nvPr/>
        </p:nvPicPr>
        <p:blipFill>
          <a:blip r:embed="rId3"/>
          <a:stretch>
            <a:fillRect/>
          </a:stretch>
        </p:blipFill>
        <p:spPr>
          <a:xfrm>
            <a:off x="560585" y="1269989"/>
            <a:ext cx="8678306" cy="5177149"/>
          </a:xfrm>
          <a:prstGeom prst="rect">
            <a:avLst/>
          </a:prstGeom>
        </p:spPr>
      </p:pic>
    </p:spTree>
    <p:extLst>
      <p:ext uri="{BB962C8B-B14F-4D97-AF65-F5344CB8AC3E}">
        <p14:creationId xmlns:p14="http://schemas.microsoft.com/office/powerpoint/2010/main" val="341716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8BDA-0758-13A9-3E35-A0797300CB4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463BBC-6B6F-47D3-1081-2F18574B32D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1187ACB-315C-0B16-C8F6-F02CAD8857C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4990310-36F0-0E8F-9116-803C9D5D6C6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DC8C8ED-42A4-739A-5C8C-AAA787436AA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CEC1AC6-15BD-B748-079E-990D740856A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DE26767-A46A-5BB1-598E-4BF8BE6DDFFE}"/>
              </a:ext>
            </a:extLst>
          </p:cNvPr>
          <p:cNvPicPr>
            <a:picLocks noChangeAspect="1"/>
          </p:cNvPicPr>
          <p:nvPr/>
        </p:nvPicPr>
        <p:blipFill>
          <a:blip r:embed="rId3"/>
          <a:stretch>
            <a:fillRect/>
          </a:stretch>
        </p:blipFill>
        <p:spPr>
          <a:xfrm>
            <a:off x="560585" y="1201587"/>
            <a:ext cx="8617921" cy="5141126"/>
          </a:xfrm>
          <a:prstGeom prst="rect">
            <a:avLst/>
          </a:prstGeom>
        </p:spPr>
      </p:pic>
    </p:spTree>
    <p:extLst>
      <p:ext uri="{BB962C8B-B14F-4D97-AF65-F5344CB8AC3E}">
        <p14:creationId xmlns:p14="http://schemas.microsoft.com/office/powerpoint/2010/main" val="215716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95E73-C6E3-C9B8-1300-A776821EF2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BA3872-8155-7E4F-65A2-EEB959787C4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5040E78-5B5E-FAC8-31FC-D42F3338730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496BF1E-750C-1810-4F8D-2A2D03026A8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1258044-6E91-E93E-DB77-80503C38E8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2802A89-4D23-F4B5-0168-B0A5CC1473CA}"/>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3A58641-9D86-AC2B-B304-DD9D04EE87AF}"/>
              </a:ext>
            </a:extLst>
          </p:cNvPr>
          <p:cNvPicPr>
            <a:picLocks noChangeAspect="1"/>
          </p:cNvPicPr>
          <p:nvPr/>
        </p:nvPicPr>
        <p:blipFill>
          <a:blip r:embed="rId3"/>
          <a:stretch>
            <a:fillRect/>
          </a:stretch>
        </p:blipFill>
        <p:spPr>
          <a:xfrm>
            <a:off x="426970" y="1275371"/>
            <a:ext cx="8751536" cy="4480569"/>
          </a:xfrm>
          <a:prstGeom prst="rect">
            <a:avLst/>
          </a:prstGeom>
        </p:spPr>
      </p:pic>
    </p:spTree>
    <p:extLst>
      <p:ext uri="{BB962C8B-B14F-4D97-AF65-F5344CB8AC3E}">
        <p14:creationId xmlns:p14="http://schemas.microsoft.com/office/powerpoint/2010/main" val="217882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7305D-4C46-7328-01F6-5184D66179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445806-BE76-47A1-E93F-2CF9CDBD656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63600F-2C5A-6714-E51E-59D9C1DF88A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F1279A4-E083-7254-627B-202475A189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ABED213-967E-CE4A-80C9-83D0FDB1FD3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D86A042-FB62-ABAD-64BB-0AB9634652E4}"/>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1F17530-AC92-2B54-15FD-A9A9636567CF}"/>
              </a:ext>
            </a:extLst>
          </p:cNvPr>
          <p:cNvPicPr>
            <a:picLocks noChangeAspect="1"/>
          </p:cNvPicPr>
          <p:nvPr/>
        </p:nvPicPr>
        <p:blipFill>
          <a:blip r:embed="rId3"/>
          <a:stretch>
            <a:fillRect/>
          </a:stretch>
        </p:blipFill>
        <p:spPr>
          <a:xfrm>
            <a:off x="811351" y="1327593"/>
            <a:ext cx="5365161" cy="5159818"/>
          </a:xfrm>
          <a:prstGeom prst="rect">
            <a:avLst/>
          </a:prstGeom>
        </p:spPr>
      </p:pic>
    </p:spTree>
    <p:extLst>
      <p:ext uri="{BB962C8B-B14F-4D97-AF65-F5344CB8AC3E}">
        <p14:creationId xmlns:p14="http://schemas.microsoft.com/office/powerpoint/2010/main" val="61193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0508B-145E-AA76-DBF8-508B731823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94854C-B01C-724A-D834-890EABEE6DA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ADE811E-420D-DFC8-1429-259E25503A1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7FFB8EB-35BD-373B-4B47-CF687360019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9B7320-EC13-3A02-99E1-B61A2E8BD26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57C2A06-E8B5-1F23-DA52-3F95E8C359CF}"/>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0546E7A-2283-7375-0DEF-01B23E40F093}"/>
              </a:ext>
            </a:extLst>
          </p:cNvPr>
          <p:cNvPicPr>
            <a:picLocks noChangeAspect="1"/>
          </p:cNvPicPr>
          <p:nvPr/>
        </p:nvPicPr>
        <p:blipFill>
          <a:blip r:embed="rId3"/>
          <a:stretch>
            <a:fillRect/>
          </a:stretch>
        </p:blipFill>
        <p:spPr>
          <a:xfrm>
            <a:off x="396061" y="1201587"/>
            <a:ext cx="8138341" cy="5463374"/>
          </a:xfrm>
          <a:prstGeom prst="rect">
            <a:avLst/>
          </a:prstGeom>
        </p:spPr>
      </p:pic>
    </p:spTree>
    <p:extLst>
      <p:ext uri="{BB962C8B-B14F-4D97-AF65-F5344CB8AC3E}">
        <p14:creationId xmlns:p14="http://schemas.microsoft.com/office/powerpoint/2010/main" val="424778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1FDE5-9257-83D2-0BDB-BB6B149C83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C903B1-BED4-A35D-53B1-26243B8EA34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0AE0238-191C-242F-ED6E-A5939ADE033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7AD192B-0630-9273-B56D-F856E54919F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4807082-9F91-FC88-743E-A752B3BBDC8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5C32C43-EDCA-3024-6569-033A3CDDF5B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421C3CF-1869-BEAC-1C99-F8DB6BFB1278}"/>
              </a:ext>
            </a:extLst>
          </p:cNvPr>
          <p:cNvPicPr>
            <a:picLocks noChangeAspect="1"/>
          </p:cNvPicPr>
          <p:nvPr/>
        </p:nvPicPr>
        <p:blipFill>
          <a:blip r:embed="rId3"/>
          <a:stretch>
            <a:fillRect/>
          </a:stretch>
        </p:blipFill>
        <p:spPr>
          <a:xfrm>
            <a:off x="560585" y="1201586"/>
            <a:ext cx="8557536" cy="5105103"/>
          </a:xfrm>
          <a:prstGeom prst="rect">
            <a:avLst/>
          </a:prstGeom>
        </p:spPr>
      </p:pic>
    </p:spTree>
    <p:extLst>
      <p:ext uri="{BB962C8B-B14F-4D97-AF65-F5344CB8AC3E}">
        <p14:creationId xmlns:p14="http://schemas.microsoft.com/office/powerpoint/2010/main" val="94896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B393BF7-6248-94AD-FD57-874840B64EE9}"/>
              </a:ext>
            </a:extLst>
          </p:cNvPr>
          <p:cNvSpPr txBox="1"/>
          <p:nvPr/>
        </p:nvSpPr>
        <p:spPr>
          <a:xfrm>
            <a:off x="675957" y="2096219"/>
            <a:ext cx="7225839" cy="2308324"/>
          </a:xfrm>
          <a:prstGeom prst="rect">
            <a:avLst/>
          </a:prstGeom>
          <a:noFill/>
        </p:spPr>
        <p:txBody>
          <a:bodyPr wrap="square" rtlCol="0">
            <a:spAutoFit/>
          </a:bodyPr>
          <a:lstStyle/>
          <a:p>
            <a:r>
              <a:rPr lang="en-IN" dirty="0">
                <a:latin typeface="Bahnschrift SemiBold" panose="020B0502040204020203" pitchFamily="34" charset="0"/>
              </a:rPr>
              <a:t>(The future scope of this project could involve developing predictive models for crop yield and profit based on seasonal factors, integrating real-time weather data for dynamic recommendations, and optimizing resource allocation (e.g., water, fertilizers) to maximize agricultural output and profitability across different seasons. Further analysis could also explore the impact of climate change scenarios on seasonal agricultural performance and propose adaptive strategies.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923330"/>
          </a:xfrm>
          <a:prstGeom prst="rect">
            <a:avLst/>
          </a:prstGeom>
          <a:noFill/>
        </p:spPr>
        <p:txBody>
          <a:bodyPr wrap="square">
            <a:spAutoFit/>
          </a:bodyPr>
          <a:lstStyle/>
          <a:p>
            <a:r>
              <a:rPr lang="en-US" dirty="0">
                <a:hlinkClick r:id="rId3"/>
              </a:rPr>
              <a:t>https://github.com/manjilagamacharyya-glitch/Seasonal-Agriculture-Performance-Analysis</a:t>
            </a:r>
            <a:endParaRPr lang="en-US" dirty="0"/>
          </a:p>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97672"/>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BC2047D-BFCD-F45C-E519-AA7D37BAAE99}"/>
              </a:ext>
            </a:extLst>
          </p:cNvPr>
          <p:cNvPicPr>
            <a:picLocks noChangeAspect="1"/>
          </p:cNvPicPr>
          <p:nvPr/>
        </p:nvPicPr>
        <p:blipFill>
          <a:blip r:embed="rId3"/>
          <a:stretch>
            <a:fillRect/>
          </a:stretch>
        </p:blipFill>
        <p:spPr>
          <a:xfrm>
            <a:off x="675957" y="1186235"/>
            <a:ext cx="9658350" cy="558263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1398</TotalTime>
  <Words>482</Words>
  <Application>Microsoft Office PowerPoint</Application>
  <PresentationFormat>Widescreen</PresentationFormat>
  <Paragraphs>60</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Bahnschrift SemiBold</vt:lpstr>
      <vt:lpstr>Calibri</vt:lpstr>
      <vt:lpstr>Trebuchet MS</vt:lpstr>
      <vt:lpstr>Wingdings</vt:lpstr>
      <vt:lpstr>Wingdings 3</vt:lpstr>
      <vt:lpstr>Facet</vt:lpstr>
      <vt:lpstr>Seasonal Agriculture Performance Analysis Major Project</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manjilagamacharyya1903@outlook.com</cp:lastModifiedBy>
  <cp:revision>99</cp:revision>
  <dcterms:created xsi:type="dcterms:W3CDTF">2021-07-11T13:13:15Z</dcterms:created>
  <dcterms:modified xsi:type="dcterms:W3CDTF">2026-09-09T16:54:17Z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